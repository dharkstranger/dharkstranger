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thesis: an event creates a burst of commerce that no rail captures. Earnival is that rail. Everything in this deck is running software, not mockups.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actors, one transaction, three different failures. The gap is structural, not a tooling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behaviour change being proven manually. Flag the measurement caveat before an investor finds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over-claim. The point is the season is large and concentrated, which suits a per-event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three-tier framing lands: table stakes, real pain, and the thing nobody else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 account required to buy is a conversion decision, not a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defensibility slide. Ticketing tools stop at ticketing; booth tools don't move money; processors are event-blind. The Connection object is what none of them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₦9,825 is small on purpose — it is one shop at 5%. Multiply by a real vendor roster.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settlement breakdown: ₦196,500 gross, ₦14,737.50 service charge, ₦9,825 organiser, ₦171,937.50 net. It sums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check-in is the single most operationally load-bearing feature. Lead with it in any organiser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fintech investor this is the de-risking slide: NDPR posture and CBN-shaped exposure limits are already in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simultaneous buyers competing for 5 seats produce exactly 5 winners — that test runs against a real Postgres, not a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rate is deliberately simple for launch. Plan tiers are a known gap, not an oversight — see the risks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 unbuilt requirements are deliberately deferred scope, not debt — the non-goals are written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gaps first is a credibility move. Every one of these has a fix with a date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raise amount and allocation before sending. The milestones are real and traceable to the risks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pPr indent="0" marL="0">
              <a:buNone/>
            </a:pPr>
            <a:r>
              <a:rPr lang="en-US" sz="3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is 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economy.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banks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Earnival is the payment, storefront and settlement layer for the economy that comes alive whenever people gather — tickets, vendor shops, cashless payment, the gate, and automatic payouts on one link.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Lagos, Nigeria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67144" y="2066544"/>
            <a:ext cx="4736592" cy="2569464"/>
          </a:xfrm>
          <a:prstGeom prst="roundRect">
            <a:avLst>
              <a:gd name="adj" fmla="val 3559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tmp/claude-0/-home-user-Dharkstranger/356365b4-ed95-5064-b031-fdabc7e4d741/scratchpad/deck-images/17-og-share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148840"/>
            <a:ext cx="4572000" cy="2404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4718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event page, as it unfurls when the link is shared.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moves. The record doesn't.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events run on cash and scattered bank transfers. When the gates close, every trail dies — and the pain lands differently on each side of the same transaction.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01568" cy="2286000"/>
          </a:xfrm>
          <a:prstGeom prst="roundRect">
            <a:avLst>
              <a:gd name="adj" fmla="val 3600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7157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118104"/>
            <a:ext cx="2889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footfall, capture only ticket revenue. The food, merch and art that sold because of their event is invisible to them — and earns them nothing.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9976" y="2514600"/>
            <a:ext cx="3401568" cy="2286000"/>
          </a:xfrm>
          <a:prstGeom prst="roundRect">
            <a:avLst>
              <a:gd name="adj" fmla="val 3600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7157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6008" y="3118104"/>
            <a:ext cx="2889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revenue the moment a customer pays into an unauthorised account. No storefront that outlives the night, and no record of anyone who bought.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19872" y="2514600"/>
            <a:ext cx="3401568" cy="2286000"/>
          </a:xfrm>
          <a:prstGeom prst="roundRect">
            <a:avLst>
              <a:gd name="adj" fmla="val 3600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27157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75904" y="3118104"/>
            <a:ext cx="2889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to buy, settle for a second choice because the vendor silently ran out, and lose every seller they discovered when the event ends.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138928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241739"/>
          </a:solidFill>
          <a:ln w="12700">
            <a:solidFill>
              <a:srgbClr val="FF5E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2180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rail treats the event as the organising unit of commerce — ticketing, storefronts, cashless payment, orders, pickup and settlement in one connected system.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run this three times, by hand.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Earnival-operated pilots, before any of this was software. When a cashless rail exists, the majority of spend moves onto it — including at an event with no tickets at all.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374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IN-EVENT SALES ONLINE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6484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end-of-year party series, 2023–2025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&gt;2,000 people · 6 vendors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89120" y="3374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PAYMENTS PROCESSED ONLINE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0" y="36484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Minileague, 2025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season · 11 vendors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A87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&gt;1,000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38160" y="3374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NON-TICKETED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38160" y="36484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Lere to the World, 2025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vendors · rail still worked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41739"/>
          </a:solidFill>
          <a:ln w="6350">
            <a:solidFill>
              <a:srgbClr val="2417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675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these are founder-reported pilot figures without an instrumented dashboard behind them. The platform now carries its own telemetry, so the next event is measured, not estimated.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seasonal economy the size of a small country.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$21.8bn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383280" y="2011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remittance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20116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looking for a trusted way to spend into events at home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8950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723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₦39.6bn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30723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Detty December spend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0723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~3.6m participants — the seasonal peak of the event economy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50208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33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7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$384.5m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41330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Festive air travel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1330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demand tied directly to the event season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937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$14.8bn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83280" y="51937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economy (2025)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51937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backdrop Earnival's category sits inside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field research — figures to be re-sourced with citations before any data room.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link does all of 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link sells tickets, hosts the vendors' shops, takes cashless payment for both, gets everyone through the gate, and pays every party what they are owed — with the split agreed in advance and visible to both sides before anyone accepts.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89504"/>
            <a:ext cx="274320" cy="274320"/>
          </a:xfrm>
          <a:prstGeom prst="ellipse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8346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vitamin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316382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that work — bought without an account, delivered by email, scannable at a gate that keeps working offline.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032504"/>
            <a:ext cx="274320" cy="274320"/>
          </a:xfrm>
          <a:prstGeom prst="ellipse">
            <a:avLst/>
          </a:prstGeom>
          <a:solidFill>
            <a:srgbClr val="FF5E1A"/>
          </a:solidFill>
          <a:ln w="6350">
            <a:solidFill>
              <a:srgbClr val="FF5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9776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painkiller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51560" y="430682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sell cashless from a permanent storefront and get paid automatically, without chasing anyone.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175504"/>
            <a:ext cx="274320" cy="274320"/>
          </a:xfrm>
          <a:prstGeom prst="ellipse">
            <a:avLst/>
          </a:prstGeom>
          <a:solidFill>
            <a:srgbClr val="4FBF83"/>
          </a:solidFill>
          <a:ln w="6350">
            <a:solidFill>
              <a:srgbClr val="4FBF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1206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steroid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51560" y="544982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organiser earns a share of every vendor sale their event created — a revenue line that did not exist for them before.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289304"/>
            <a:ext cx="2496312" cy="4745736"/>
          </a:xfrm>
          <a:prstGeom prst="roundRect">
            <a:avLst>
              <a:gd name="adj" fmla="val 3663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/tmp/claude-0/-home-user-Dharkstranger/356365b4-ed95-5064-b031-fdabc7e4d741/scratchpad/deck-images/01-event-micr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371600"/>
            <a:ext cx="2331720" cy="45811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0" y="6144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event page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THE BUYER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 seconds, no account, no app.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buy with a name, an email and a phone number. The ticket arrives as a signed QR badge; orders from several shops in one basket become one order per shop, each tracked separately.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29669" y="2295144"/>
            <a:ext cx="1792622" cy="3364992"/>
          </a:xfrm>
          <a:prstGeom prst="roundRect">
            <a:avLst>
              <a:gd name="adj" fmla="val 5101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claude-0/-home-user-Dharkstranger/356365b4-ed95-5064-b031-fdabc7e4d741/scratchpad/deck-images/01-event-micr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965" y="2377440"/>
            <a:ext cx="162803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7790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 ticket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90149" y="2295144"/>
            <a:ext cx="1866623" cy="3364992"/>
          </a:xfrm>
          <a:prstGeom prst="roundRect">
            <a:avLst>
              <a:gd name="adj" fmla="val 4899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/tmp/claude-0/-home-user-Dharkstranger/356365b4-ed95-5064-b031-fdabc7e4d741/scratchpad/deck-images/04-ticket-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445" y="2377440"/>
            <a:ext cx="1702031" cy="320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57790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that gets you in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53258" y="2295144"/>
            <a:ext cx="2135365" cy="3364992"/>
          </a:xfrm>
          <a:prstGeom prst="roundRect">
            <a:avLst>
              <a:gd name="adj" fmla="val 4282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2" descr="/tmp/claude-0/-home-user-Dharkstranger/356365b4-ed95-5064-b031-fdabc7e4d741/scratchpad/deck-images/03-shop-store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554" y="2377440"/>
            <a:ext cx="1970773" cy="3200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57790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storefront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196247" y="2295144"/>
            <a:ext cx="2044345" cy="3364992"/>
          </a:xfrm>
          <a:prstGeom prst="roundRect">
            <a:avLst>
              <a:gd name="adj" fmla="val 4473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3" descr="/tmp/claude-0/-home-user-Dharkstranger/356365b4-ed95-5064-b031-fdabc7e4d741/scratchpad/deck-images/18-order-trac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543" y="2377440"/>
            <a:ext cx="1879753" cy="3200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0" y="57790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order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40080" y="62362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build. Demonstration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Connection: a governed link that carries money.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is only purchasable through an event it has an ACTIVE connection with. The revenue share is agreed up front, shown as a worked example before anyone accepts, and snapshot onto every order — so a later edit can never rewrite an existing order's split.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" y="2404872"/>
            <a:ext cx="7205472" cy="3584448"/>
          </a:xfrm>
          <a:prstGeom prst="roundRect">
            <a:avLst>
              <a:gd name="adj" fmla="val 2551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claude-0/-home-user-Dharkstranger/356365b4-ed95-5064-b031-fdabc7e4d741/scratchpad/deck-images/09b-event-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7040880" cy="3419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2487168"/>
            <a:ext cx="3200400" cy="1261872"/>
          </a:xfrm>
          <a:prstGeom prst="roundRect">
            <a:avLst>
              <a:gd name="adj" fmla="val 6522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7072" y="26883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blind accepts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7072" y="309067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organiser sees exactly what each party receives on a sample sale.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21040" y="3858768"/>
            <a:ext cx="3200400" cy="1261872"/>
          </a:xfrm>
          <a:prstGeom prst="roundRect">
            <a:avLst>
              <a:gd name="adj" fmla="val 6522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77072" y="40599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are snapshot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77072" y="446227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apply to future orders only. History is immutable.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0" y="5230368"/>
            <a:ext cx="3200400" cy="1261872"/>
          </a:xfrm>
          <a:prstGeom prst="roundRect">
            <a:avLst>
              <a:gd name="adj" fmla="val 6522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7072" y="543153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flywheel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77072" y="583387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 recruit vendors; vendors recruit each other.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6144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build. Demonstration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THE ORGANISER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revenue line that did not exist before.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94944" y="1655064"/>
            <a:ext cx="7205472" cy="3044952"/>
          </a:xfrm>
          <a:prstGeom prst="roundRect">
            <a:avLst>
              <a:gd name="adj" fmla="val 3003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claude-0/-home-user-Dharkstranger/356365b4-ed95-5064-b031-fdabc7e4d741/scratchpad/deck-images/09-even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704088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7373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organiser now sees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21031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revenue, net of all fees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share of every vendor sale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GMV the event generated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sold against capacity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check-in progress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funnel: opens, checkout starts, purchases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21040" y="4526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Earnival, the last three of these did not exist for an organiser at all.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9560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₦726k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5632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REVENUE (NET)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0400" y="49560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₦196k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00400" y="5632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GMV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23560" y="49560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₦9,825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623560" y="5632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ORGANISER'S SHARE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60350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build. Demonstration 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THE VENDOR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storefront that outlives the event.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94944" y="1655064"/>
            <a:ext cx="5742432" cy="2743200"/>
          </a:xfrm>
          <a:prstGeom prst="roundRect">
            <a:avLst>
              <a:gd name="adj" fmla="val 3333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claude-0/-home-user-Dharkstranger/356365b4-ed95-5064-b031-fdabc7e4d741/scratchpad/deck-images/12-vendor-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5577840" cy="2578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" y="4535424"/>
            <a:ext cx="5742432" cy="1792224"/>
          </a:xfrm>
          <a:prstGeom prst="roundRect">
            <a:avLst>
              <a:gd name="adj" fmla="val 5102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/tmp/claude-0/-home-user-Dharkstranger/356365b4-ed95-5064-b031-fdabc7e4d741/scratchpad/deck-images/12b-vendor-set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17720"/>
            <a:ext cx="557784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20840" y="1737360"/>
            <a:ext cx="4800600" cy="1481328"/>
          </a:xfrm>
          <a:prstGeom prst="roundRect">
            <a:avLst>
              <a:gd name="adj" fmla="val 5556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76872" y="1938528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Permanent, not per-event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76872" y="2340864"/>
            <a:ext cx="4288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has its own URL and QR. It survives every event it connects to, and carries its customers with it.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20840" y="3310128"/>
            <a:ext cx="4800600" cy="1481328"/>
          </a:xfrm>
          <a:prstGeom prst="roundRect">
            <a:avLst>
              <a:gd name="adj" fmla="val 5556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76872" y="3511296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split sums to the gross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76872" y="3913632"/>
            <a:ext cx="4288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charge, organiser share and vendor net are computed in integer kobo. Rounding remainders go to the vendor — they never evaporate.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20840" y="4882896"/>
            <a:ext cx="4800600" cy="1481328"/>
          </a:xfrm>
          <a:prstGeom prst="roundRect">
            <a:avLst>
              <a:gd name="adj" fmla="val 5556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76872" y="5084064"/>
            <a:ext cx="4288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without chasing anyone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976872" y="5486400"/>
            <a:ext cx="4288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claims ledger entries atomically, then pays out to a bank account verified with the bank first.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724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build. Demonstration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EVENT 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 is when software gets judged.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venue with no signal, a queue at the gate, and a dead phone battery are not edge cases — they are Saturday. Check-in queues scans on the device and syncs when connectivity returns, each carrying an idempotency key so a replay cannot double-register anyone.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2104" y="2478024"/>
            <a:ext cx="3227832" cy="3044952"/>
          </a:xfrm>
          <a:prstGeom prst="roundRect">
            <a:avLst>
              <a:gd name="adj" fmla="val 3003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claude-0/-home-user-Dharkstranger/356365b4-ed95-5064-b031-fdabc7e4d741/scratchpad/deck-images/07-door-sc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306324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52544" y="2478024"/>
            <a:ext cx="3364992" cy="1243584"/>
          </a:xfrm>
          <a:prstGeom prst="roundRect">
            <a:avLst>
              <a:gd name="adj" fmla="val 7353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tmp/claude-0/-home-user-Dharkstranger/356365b4-ed95-5064-b031-fdabc7e4d741/scratchpad/deck-images/10-event-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560320"/>
            <a:ext cx="3200400" cy="10789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01000" y="2560320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57032" y="276148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57032" y="3163824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queue on the device and sync later. The gate never stops because the network did.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01000" y="3950208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57032" y="4151376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Forgery fails first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57032" y="45537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payloads are signed. An edited code is rejected before any database lookup.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01000" y="53400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57032" y="554126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one phone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57032" y="5943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staff and cohosts check guests in without ever seeing revenue.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3484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check-in, captured live — the counter moves, the guest is confirmed, and the session count increments.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34840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are invited by email with capabilities mapped one by one — check in, edit, manage shops, issue refunds.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5596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build. Demonstration data.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COMPLIANCE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is priced into the product, not bolted 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climb a verification ladder. Each rung raises what they can earn per event and how fast they get paid — so the platform's exposure to an unverified seller is bounded by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" y="2203704"/>
            <a:ext cx="6199632" cy="4142232"/>
          </a:xfrm>
          <a:prstGeom prst="roundRect">
            <a:avLst>
              <a:gd name="adj" fmla="val 2208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claude-0/-home-user-Dharkstranger/356365b4-ed95-5064-b031-fdabc7e4d741/scratchpad/deck-images/13-ve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603504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2286000"/>
            <a:ext cx="4251960" cy="859536"/>
          </a:xfrm>
          <a:prstGeom prst="roundRect">
            <a:avLst>
              <a:gd name="adj" fmla="val 8511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23865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0" y="2743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₦500,000 per event · paid events reviewed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3236976"/>
            <a:ext cx="4251960" cy="859536"/>
          </a:xfrm>
          <a:prstGeom prst="roundRect">
            <a:avLst>
              <a:gd name="adj" fmla="val 8511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46720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0" y="36941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₦1,000,000 · may open and connect a shop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4187952"/>
            <a:ext cx="4251960" cy="859536"/>
          </a:xfrm>
          <a:prstGeom prst="roundRect">
            <a:avLst>
              <a:gd name="adj" fmla="val 8511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28853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0" y="4306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BVN or NIN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98080" y="46451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₦5,000,000 · daily settlement unlocked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69480" y="5138928"/>
            <a:ext cx="4251960" cy="859536"/>
          </a:xfrm>
          <a:prstGeom prst="roundRect">
            <a:avLst>
              <a:gd name="adj" fmla="val 8511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52395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046720" y="5257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+ TIN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98080" y="5596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verified badge · daily settlement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69480" y="6199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BVN, NIN and TIN are encrypted at rest under a key held separately from the session secret. Only the last four digits are ever displayed — including to our own reviewers.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append-only ledger, and money that leaves.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94944" y="1655064"/>
            <a:ext cx="6931152" cy="2514600"/>
          </a:xfrm>
          <a:prstGeom prst="roundRect">
            <a:avLst>
              <a:gd name="adj" fmla="val 3636"/>
            </a:avLst>
          </a:prstGeom>
          <a:solidFill>
            <a:srgbClr val="FAF6EF"/>
          </a:solidFill>
          <a:ln w="6350">
            <a:solidFill>
              <a:srgbClr val="FAF6EF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claude-0/-home-user-Dharkstranger/356365b4-ed95-5064-b031-fdabc7e4d741/scratchpad/deck-images/14-payo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6766560" cy="2350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31596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settlement run against the build: ₦735,950 claimed from the ledger, paid to a bank-verified account, and the payable balance drained to zero.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1737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invariants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214884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integer kobo. No floating point anywhere in the money path.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come from the database. Checkout accepts only IDs and quantities.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reserved by conditional SQL, so concurrent buyers cannot oversell.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signature-verified webhook can mark a payment successful.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is append-only. Balances are sums, never stored numbers.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5074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5751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08960" y="5074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→ 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108960" y="5751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OVERSELL RACE, VERIFIED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40680" y="5074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440680" y="5751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FLOATS IN THE MONEY PATH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6400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build. Demonstration data.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43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7.5%, and we show our working.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charge of 7.5% is deducted from the seller per transaction. Processing fees are added to the buyer's total and shown before payment. No listing fee.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6751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4DA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786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₦10,000 VENDOR SALE, ON A 5% CONNECTION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3017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₦10,150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3035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₦10,000 item plus the processing fee, shown separately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6210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Earnival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621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43F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₦750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6393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service charge — our revenue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4224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2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₦500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42428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connection share, agreed before the event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28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4828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₦8,750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4846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Net, settled to a verified bank account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2303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6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split sums exactly to the gross. Rounding remainders go to the vendor.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2377440"/>
            <a:ext cx="3840480" cy="1691640"/>
          </a:xfrm>
          <a:prstGeom prst="roundRect">
            <a:avLst>
              <a:gd name="adj" fmla="val 4865"/>
            </a:avLst>
          </a:prstGeom>
          <a:solidFill>
            <a:srgbClr val="1C1030"/>
          </a:solidFill>
          <a:ln w="6350">
            <a:solidFill>
              <a:srgbClr val="1C1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257860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lines, one transaction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36992" y="2980944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on tickets and on vendor sales through the same rail — and the organiser's share is what makes them recruit the vendors for us.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4224528"/>
            <a:ext cx="3840480" cy="1399032"/>
          </a:xfrm>
          <a:prstGeom prst="roundRect">
            <a:avLst>
              <a:gd name="adj" fmla="val 5882"/>
            </a:avLst>
          </a:prstGeom>
          <a:solidFill>
            <a:srgbClr val="1C1030"/>
          </a:solidFill>
          <a:ln w="6350">
            <a:solidFill>
              <a:srgbClr val="1C1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4425696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live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36992" y="4828032"/>
            <a:ext cx="3328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(5%) and Premium (2%) plan tiers are specified but unbuilt. The 7.5% Starter rate is the only live rate today.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prototype. It runs.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in our PRD carries a build status, so the gap between intent and reality is legible rather than asserted. Of 180 requirements across ten user journeys: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4FB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92608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21208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BUILT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49808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GAPS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784080" y="23774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784080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2A1B45"/>
          </a:solidFill>
          <a:ln w="6350">
            <a:solidFill>
              <a:srgbClr val="2A1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87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17,560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4187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4320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4187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628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4187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92440" y="4187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9244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0" y="4187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75520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7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· PostgreSQL 16 via Prisma · Paystack · deployed as one application. Integration tests run against a real database, because the failures that matter are concurrency problems.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43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NOT DONE YET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things standing between us and a live event.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you hear these from us. Each has a named owner and sits on the critical path to first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A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15184"/>
            <a:ext cx="237744" cy="237744"/>
          </a:xfrm>
          <a:prstGeom prst="ellipse">
            <a:avLst/>
          </a:prstGeom>
          <a:solidFill>
            <a:srgbClr val="C43F07"/>
          </a:solidFill>
          <a:ln w="6350">
            <a:solidFill>
              <a:srgbClr val="C43F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441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tested against live Paystack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0" y="2432304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refund and transfer has been exercised against sandbox stubs only. One small real event, end to end, is the gate before any external launch.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74136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A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03320"/>
            <a:ext cx="237744" cy="237744"/>
          </a:xfrm>
          <a:prstGeom prst="ellipse">
            <a:avLst/>
          </a:prstGeom>
          <a:solidFill>
            <a:srgbClr val="C43F07"/>
          </a:solidFill>
          <a:ln w="6350">
            <a:solidFill>
              <a:srgbClr val="C43F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DPIA not yet completed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0" y="352044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collects BVN and NIN. The data protection impact assessment is launch-blocking and must land before that rung is enabled.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62272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A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791456"/>
            <a:ext cx="237744" cy="237744"/>
          </a:xfrm>
          <a:prstGeom prst="ellipse">
            <a:avLst/>
          </a:prstGeom>
          <a:solidFill>
            <a:srgbClr val="A65B0B"/>
          </a:solidFill>
          <a:ln w="6350">
            <a:solidFill>
              <a:srgbClr val="A65B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617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CBN treatment of pre-event payouts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0" y="4608576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settlement pays out ticket revenue before the event happens. That needs regulatory comfort before we enable it broadly.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50408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A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879592"/>
            <a:ext cx="237744" cy="237744"/>
          </a:xfrm>
          <a:prstGeom prst="ellipse">
            <a:avLst/>
          </a:prstGeom>
          <a:solidFill>
            <a:srgbClr val="A65B0B"/>
          </a:solidFill>
          <a:ln w="6350">
            <a:solidFill>
              <a:srgbClr val="A65B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5705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admin audit log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0" y="569671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KYC decisions and refunds leave no trail beyond the row they change. Required before anyone but the founder is an admin.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first hundred events.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built. What we are buying is the operational proof — real money moving through real events, instrumented, so the second hundred sell themselves.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2A1B45"/>
          </a:solidFill>
          <a:ln w="15875">
            <a:solidFill>
              <a:srgbClr val="FF5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amount 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set by the founder. The milestones opposite are costed around a 12-month runway.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vendor onboarding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4617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%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01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5001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%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385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5385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%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423160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241739"/>
          </a:solidFill>
          <a:ln w="6350">
            <a:solidFill>
              <a:srgbClr val="2417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15768"/>
            <a:ext cx="219456" cy="219456"/>
          </a:xfrm>
          <a:prstGeom prst="ellipse">
            <a:avLst/>
          </a:prstGeom>
          <a:solidFill>
            <a:srgbClr val="FF5E1A"/>
          </a:solidFill>
          <a:ln w="6350">
            <a:solidFill>
              <a:srgbClr val="FF5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launch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28254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event end to end on live Paystack. DPIA completed. Sending domain verified.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3374136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241739"/>
          </a:solidFill>
          <a:ln w="6350">
            <a:solidFill>
              <a:srgbClr val="2417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666744"/>
            <a:ext cx="219456" cy="219456"/>
          </a:xfrm>
          <a:prstGeom prst="ellipse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quarter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0" y="37764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pilot cohorts onboarded by hand — DDP, FSN, Lere. Baselines replace every estimated metric in this deck.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4325112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241739"/>
          </a:solidFill>
          <a:ln w="6350">
            <a:solidFill>
              <a:srgbClr val="2417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617720"/>
            <a:ext cx="219456" cy="219456"/>
          </a:xfrm>
          <a:prstGeom prst="ellipse">
            <a:avLst/>
          </a:prstGeom>
          <a:solidFill>
            <a:srgbClr val="A87BEA"/>
          </a:solidFill>
          <a:ln w="6350">
            <a:solidFill>
              <a:srgbClr val="A87B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443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quarter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0" y="47274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tiers live. Admin audit log. Open the link beyond hand-onboarded organisers.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34840" y="5276088"/>
            <a:ext cx="7086600" cy="877824"/>
          </a:xfrm>
          <a:prstGeom prst="roundRect">
            <a:avLst>
              <a:gd name="adj" fmla="val 8333"/>
            </a:avLst>
          </a:prstGeom>
          <a:solidFill>
            <a:srgbClr val="241739"/>
          </a:solidFill>
          <a:ln w="6350">
            <a:solidFill>
              <a:srgbClr val="2417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568696"/>
            <a:ext cx="219456" cy="219456"/>
          </a:xfrm>
          <a:prstGeom prst="ellipse">
            <a:avLst/>
          </a:prstGeom>
          <a:solidFill>
            <a:srgbClr val="4FBF83"/>
          </a:solidFill>
          <a:ln w="6350">
            <a:solidFill>
              <a:srgbClr val="4FBF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5394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half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0" y="56784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payments. The ₦5m and unlimited rungs carrying real volume.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pPr indent="0" marL="0">
              <a:buNone/>
            </a:pPr>
            <a:r>
              <a:rPr lang="en-US" sz="1800" b="1" dirty="0">
                <a:solidFill>
                  <a:srgbClr val="FF5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pPr indent="0" marL="0">
              <a:buNone/>
            </a:pPr>
            <a:r>
              <a:rPr lang="en-US" sz="1200" b="1" dirty="0">
                <a:solidFill>
                  <a:srgbClr val="7E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Emeka Ugochukwu · emeka.victor.ugochukwu@gmail.com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Earnival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Earnival — Investor Deck</dc:title>
  <dc:subject>PptxGenJS Presentation</dc:subject>
  <dc:creator>Emeka Ugochukwu</dc:creator>
  <cp:lastModifiedBy>Emeka Ugochukwu</cp:lastModifiedBy>
  <cp:revision>1</cp:revision>
  <dcterms:created xsi:type="dcterms:W3CDTF">2026-08-11T00:19:28Z</dcterms:created>
  <dcterms:modified xsi:type="dcterms:W3CDTF">2026-08-11T00:19:28Z</dcterms:modified>
</cp:coreProperties>
</file>